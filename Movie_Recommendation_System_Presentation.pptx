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F8FAFC"/>
                </a:solidFill>
              </a:defRPr>
            </a:pPr>
            <a:r>
              <a:t>Personalized Movie Recommendation System</a:t>
            </a:r>
          </a:p>
          <a:p>
            <a:pPr>
              <a:defRPr sz="1800">
                <a:solidFill>
                  <a:srgbClr val="00E676"/>
                </a:solidFill>
              </a:defRPr>
            </a:pPr>
            <a:r>
              <a:t>An End-to-End Hybrid Machine Learning System (Content-Based + Collaborative Filtering)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685800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00E676"/>
                </a:solidFill>
              </a:rPr>
              <a:t>Student Name:      </a:t>
            </a:r>
            <a:r>
              <a:rPr sz="1400">
                <a:solidFill>
                  <a:srgbClr val="F8FAFC"/>
                </a:solidFill>
              </a:rPr>
              <a:t>Chandraprakash Suthar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0E676"/>
                </a:solidFill>
              </a:rPr>
              <a:t>Roll Number:       </a:t>
            </a:r>
            <a:r>
              <a:rPr sz="1400">
                <a:solidFill>
                  <a:srgbClr val="F8FAFC"/>
                </a:solidFill>
              </a:rPr>
              <a:t>27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0E676"/>
                </a:solidFill>
              </a:rPr>
              <a:t>Division &amp; Class:  </a:t>
            </a:r>
            <a:r>
              <a:rPr sz="1400">
                <a:solidFill>
                  <a:srgbClr val="F8FAFC"/>
                </a:solidFill>
              </a:rPr>
              <a:t>Div: B  |  Class: BSCDS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0E676"/>
                </a:solidFill>
              </a:rPr>
              <a:t>Specialization:    </a:t>
            </a:r>
            <a:r>
              <a:rPr sz="1400">
                <a:solidFill>
                  <a:srgbClr val="F8FAFC"/>
                </a:solidFill>
              </a:rPr>
              <a:t>Data Science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Project Objective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E676"/>
                </a:solidFill>
              </a:defRPr>
            </a:pPr>
            <a:r>
              <a:t>The Challenge: Choice Paralysis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Exponential Content Overload: Users spend over 18 minutes browsing before selecting a film.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Cold Start Problem: Traditional systems fail when recommending new titles or catering to new users.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Monolingual Bias: Most public recommendation engines focus exclusively on Hollywood, ignoring massive Indian cinema demand.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Sparsity of Ratings: Less than 1% of movie combinations have user ratings in real-world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00E676"/>
                </a:solidFill>
              </a:defRPr>
            </a:pPr>
            <a:r>
              <a:t>Our Solution &amp; Objectives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Hybrid Recommendation Engine: Blends Natural Language Processing with Matrix Factorization.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Curated Dual Corpus: 100 iconic movies spanning 40 Hollywood &amp; 60 Bollywood classics.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Lightning Fast Inference: Precalculated similarity matrices enabling &lt; 15ms recommendation latency.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Production-Grade Architecture: Full-stack implementation using FastAPI and modern interactive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Dataset &amp; Feature Engineering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0E676"/>
                </a:solidFill>
              </a:defRPr>
            </a:pPr>
            <a:r>
              <a:t>1. Movie Corpus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100 Curated Films total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40 Hollywood Blockbusters (Inception, Interstellar, The Dark Knight)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60 Bollywood Classics (DDLJ, 3 Idiots, Sultan, Dangal, Sholay)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Multi-genre diversity: Action, Sci-Fi, Romance, Drama, Comedy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0E676"/>
                </a:solidFill>
              </a:defRPr>
            </a:pPr>
            <a:r>
              <a:t>2. Feature Extraction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Metadata Soup creation: Title + Genre tokens + Plot overview text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TF-IDF Vectorization: Term Frequency - Inverse Document Frequency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Stop-words removal &amp; stemming to eliminate lexical noise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High-dimensional word-vector representation for each movie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0E676"/>
                </a:solidFill>
              </a:defRPr>
            </a:pPr>
            <a:r>
              <a:t>3. Ratings &amp; Assets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User-Item Interaction Matrix with 10 user personas and 246 ratings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Normalized 1-to-5 star rating distributions across genre tastes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100 Local HD Posters cached directly in static/posters/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100% offline availability with zero third-party image link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Recommendation Algorithms &amp;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00E676"/>
                </a:solidFill>
              </a:defRPr>
            </a:pPr>
            <a:r>
              <a:t>Content-Based: TF-IDF &amp; Cosine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TF-IDF Vectorizer: Converts textual descriptions and genre tags into numerical vectors, emphasizing informative keywords.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Cosine Similarity Metric: Evaluates angle θ between vectors u and v:</a:t>
            </a:r>
          </a:p>
          <a:p>
            <a:pPr>
              <a:spcAft>
                <a:spcPts val="600"/>
              </a:spcAft>
              <a:defRPr sz="1300" b="1">
                <a:solidFill>
                  <a:srgbClr val="00E676"/>
                </a:solidFill>
              </a:defRPr>
            </a:pPr>
            <a:r>
              <a:t>• Formula: Sim(u, v) = (u · v) / ( ||u|| × ||v|| 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Advantage: Invariant to document length; delivers instantaneous recommendations even for zero-history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00E676"/>
                </a:solidFill>
              </a:defRPr>
            </a:pPr>
            <a:r>
              <a:t>Collaborative Filtering: SVD Matrix Factorization</a:t>
            </a:r>
          </a:p>
          <a:p>
            <a:pPr>
              <a:spcAft>
                <a:spcPts val="600"/>
              </a:spcAft>
              <a:defRPr sz="1300" b="1">
                <a:solidFill>
                  <a:srgbClr val="00E676"/>
                </a:solidFill>
              </a:defRPr>
            </a:pPr>
            <a:r>
              <a:t>• Singular Value Decomposition (SVD): Decomposes sparse rating matrix R into low-rank user and item latent matrices.</a:t>
            </a:r>
          </a:p>
          <a:p>
            <a:pPr>
              <a:spcAft>
                <a:spcPts val="600"/>
              </a:spcAft>
              <a:defRPr sz="1300" b="1">
                <a:solidFill>
                  <a:srgbClr val="00E676"/>
                </a:solidFill>
              </a:defRPr>
            </a:pPr>
            <a:r>
              <a:t>• Decomposition: R ≈ U · Σ · V^T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Learned Latent Factors: Discovers hidden tastes (e.g., preference for Christopher Nolan mind-benders or Bollywood romance).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Hybrid Ensemble: Final_Score = α·SVD + (1-α)·Cosine, giving the best balance of accuracy and novelty.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8FAFC"/>
                </a:solidFill>
              </a:defRPr>
            </a:pPr>
            <a:r>
              <a:t>1. Data Tier</a:t>
            </a:r>
          </a:p>
          <a:p>
            <a:pPr>
              <a:spcAft>
                <a:spcPts val="1000"/>
              </a:spcAft>
              <a:defRPr b="1" sz="1000">
                <a:solidFill>
                  <a:srgbClr val="00E676"/>
                </a:solidFill>
              </a:defRPr>
            </a:pPr>
            <a:r>
              <a:t>PANDAS / NUMPY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movies.csv &amp; ratings.csv ingestion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Stopword cleaning &amp; text pre-processing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Precomputes 100x100 similarity matrix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Caches local assets in static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8FAFC"/>
                </a:solidFill>
              </a:defRPr>
            </a:pPr>
            <a:r>
              <a:t>2. Machine Learning</a:t>
            </a:r>
          </a:p>
          <a:p>
            <a:pPr>
              <a:spcAft>
                <a:spcPts val="1000"/>
              </a:spcAft>
              <a:defRPr b="1" sz="1000">
                <a:solidFill>
                  <a:srgbClr val="00E676"/>
                </a:solidFill>
              </a:defRPr>
            </a:pPr>
            <a:r>
              <a:t>SCIKIT-LEARN &amp; SVD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TfidfVectorizer tokenization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Pairwise cosine similarity matrix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Surprise SVD rating factorization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Hybrid scoring aggregator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8FAFC"/>
                </a:solidFill>
              </a:defRPr>
            </a:pPr>
            <a:r>
              <a:t>3. REST API Tier</a:t>
            </a:r>
          </a:p>
          <a:p>
            <a:pPr>
              <a:spcAft>
                <a:spcPts val="1000"/>
              </a:spcAft>
              <a:defRPr b="1" sz="1000">
                <a:solidFill>
                  <a:srgbClr val="00E676"/>
                </a:solidFill>
              </a:defRPr>
            </a:pPr>
            <a:r>
              <a:t>FASTAPI &amp; UVICORN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High-throughput asynchronous ASGI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Endpoints for movie search &amp; similarity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Personalized user recommendation route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Sub-15ms response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F8FAFC"/>
                </a:solidFill>
              </a:defRPr>
            </a:pPr>
            <a:r>
              <a:t>4. Presentation Tier</a:t>
            </a:r>
          </a:p>
          <a:p>
            <a:pPr>
              <a:spcAft>
                <a:spcPts val="1000"/>
              </a:spcAft>
              <a:defRPr b="1" sz="1000">
                <a:solidFill>
                  <a:srgbClr val="00E676"/>
                </a:solidFill>
              </a:defRPr>
            </a:pPr>
            <a:r>
              <a:t>HTML5, CSS3, JS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Sleek neon-green dark theme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Fuzzy search &amp; shorthand alias engine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Dynamic card rendering without page reload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100% responsive cross-device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Results &amp; UI/UX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500">
                <a:solidFill>
                  <a:srgbClr val="00E676"/>
                </a:solidFill>
              </a:defRPr>
            </a:pPr>
            <a:r>
              <a:t>Shorthand &amp; Smart Search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Supports instant search by full name or popular abbreviations (e.g., 'DDLJ', '3 Idiots', 'K3G', 'YJHD') with real-time dropdown and click-outside dismissal.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500">
                <a:solidFill>
                  <a:srgbClr val="00E676"/>
                </a:solidFill>
              </a:defRPr>
            </a:pPr>
            <a:r>
              <a:t>100% Offline Asset Reliability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All 100 movie posters are downloaded and verified locally. Eliminates slow network requests, blocked CDNs, and broken image thumbnails.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500">
                <a:solidFill>
                  <a:srgbClr val="00E676"/>
                </a:solidFill>
              </a:defRPr>
            </a:pPr>
            <a:r>
              <a:t>Clean, Minimalist Aesthetics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Polished dark background (#0F172A) with vibrant neon-green accents (#00E676), giving an engaging modern cinematic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500">
                <a:solidFill>
                  <a:srgbClr val="00E676"/>
                </a:solidFill>
              </a:defRPr>
            </a:pPr>
            <a:r>
              <a:t>Sub-15ms Recommendation Response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Optimized algorithmic pipeline delivers similarity rankings in real time, making the browsing experience completely frictionless.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371600"/>
            <a:ext cx="79552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400" b="1">
                <a:solidFill>
                  <a:srgbClr val="00E676"/>
                </a:solidFill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2000">
                <a:solidFill>
                  <a:srgbClr val="F8FAFC"/>
                </a:solidFill>
              </a:defRPr>
            </a:pPr>
            <a:r>
              <a:t>Questions &amp; Answers / Discussion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00E676"/>
                </a:solidFill>
              </a:defRPr>
            </a:pPr>
            <a:r>
              <a:t>Chandraprakash Suthar  |  Roll No: 27  |  Div: B  |  Class: BSCDS</a:t>
            </a:r>
          </a:p>
          <a:p>
            <a:pPr algn="ctr">
              <a:defRPr sz="1300">
                <a:solidFill>
                  <a:srgbClr val="94A3B8"/>
                </a:solidFill>
              </a:defRPr>
            </a:pPr>
            <a:r>
              <a:t>GitHub: https://github.com/chandraprakashsuthar46-sys/Movie-Recommendation-System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